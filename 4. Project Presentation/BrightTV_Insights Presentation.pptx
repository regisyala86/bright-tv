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Youth</c:v>
                  </c:pt>
                  <c:pt idx="1">
                    <c:v>Adult</c:v>
                  </c:pt>
                  <c:pt idx="2">
                    <c:v>Teenagers</c:v>
                  </c:pt>
                  <c:pt idx="3">
                    <c:v>Mature Adult</c:v>
                  </c:pt>
                  <c:pt idx="4">
                    <c:v>Kids</c:v>
                  </c:pt>
                  <c:pt idx="5">
                    <c:v>Retired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3764</c:v>
                </c:pt>
                <c:pt idx="1">
                  <c:v>2409</c:v>
                </c:pt>
                <c:pt idx="2">
                  <c:v>1346</c:v>
                </c:pt>
                <c:pt idx="3">
                  <c:v>832</c:v>
                </c:pt>
                <c:pt idx="4">
                  <c:v>488</c:v>
                </c:pt>
                <c:pt idx="5">
                  <c:v>244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7967</c:v>
                </c:pt>
                <c:pt idx="1">
                  <c:v>891</c:v>
                </c:pt>
                <c:pt idx="2">
                  <c:v>225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Black</c:v>
                  </c:pt>
                  <c:pt idx="1">
                    <c:v>Coloured</c:v>
                  </c:pt>
                  <c:pt idx="2">
                    <c:v>Indian/Asian</c:v>
                  </c:pt>
                  <c:pt idx="3">
                    <c:v>White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3917</c:v>
                </c:pt>
                <c:pt idx="1">
                  <c:v>1487</c:v>
                </c:pt>
                <c:pt idx="2">
                  <c:v>1430</c:v>
                </c:pt>
                <c:pt idx="3">
                  <c:v>1188</c:v>
                </c:pt>
                <c:pt idx="4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Gauteng</c:v>
                  </c:pt>
                  <c:pt idx="1">
                    <c:v>Western Cape</c:v>
                  </c:pt>
                  <c:pt idx="2">
                    <c:v>KwaZulu-Natal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Eastern Cape</c:v>
                  </c:pt>
                  <c:pt idx="6">
                    <c:v>North West</c:v>
                  </c:pt>
                  <c:pt idx="7">
                    <c:v>Free State</c:v>
                  </c:pt>
                  <c:pt idx="8">
                    <c:v>Northern Cape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3329</c:v>
                </c:pt>
                <c:pt idx="1">
                  <c:v>1688</c:v>
                </c:pt>
                <c:pt idx="2">
                  <c:v>890</c:v>
                </c:pt>
                <c:pt idx="3">
                  <c:v>854</c:v>
                </c:pt>
                <c:pt idx="4">
                  <c:v>688</c:v>
                </c:pt>
                <c:pt idx="5">
                  <c:v>624</c:v>
                </c:pt>
                <c:pt idx="6">
                  <c:v>308</c:v>
                </c:pt>
                <c:pt idx="7">
                  <c:v>266</c:v>
                </c:pt>
                <c:pt idx="8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Afternoon</c:v>
                  </c:pt>
                  <c:pt idx="1">
                    <c:v>Evening</c:v>
                  </c:pt>
                  <c:pt idx="2">
                    <c:v>Morning</c:v>
                  </c:pt>
                  <c:pt idx="3">
                    <c:v>Late Night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3419</c:v>
                </c:pt>
                <c:pt idx="1">
                  <c:v>2993</c:v>
                </c:pt>
                <c:pt idx="2">
                  <c:v>2167</c:v>
                </c:pt>
                <c:pt idx="3">
                  <c:v>504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watched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ICC Cricket WC 2011</c:v>
                  </c:pt>
                  <c:pt idx="1">
                    <c:v>Supersport Live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SuperSport Blitz</c:v>
                  </c:pt>
                  <c:pt idx="5">
                    <c:v>Boomerang</c:v>
                  </c:pt>
                  <c:pt idx="6">
                    <c:v>Cartoon Network</c:v>
                  </c:pt>
                  <c:pt idx="7">
                    <c:v>CNN</c:v>
                  </c:pt>
                  <c:pt idx="8">
                    <c:v>Africa Magic</c:v>
                  </c:pt>
                  <c:pt idx="9">
                    <c:v>E! Entertainment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412.1</c:v>
                </c:pt>
                <c:pt idx="1">
                  <c:v>313.2</c:v>
                </c:pt>
                <c:pt idx="2">
                  <c:v>192.8</c:v>
                </c:pt>
                <c:pt idx="3">
                  <c:v>191.9</c:v>
                </c:pt>
                <c:pt idx="4">
                  <c:v>90.7</c:v>
                </c:pt>
                <c:pt idx="5">
                  <c:v>73.3</c:v>
                </c:pt>
                <c:pt idx="6">
                  <c:v>70.3</c:v>
                </c:pt>
                <c:pt idx="7">
                  <c:v>67.8</c:v>
                </c:pt>
                <c:pt idx="8">
                  <c:v>48.8</c:v>
                </c:pt>
                <c:pt idx="9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watched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Saturday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114.9</c:v>
                </c:pt>
                <c:pt idx="1">
                  <c:v>198.4</c:v>
                </c:pt>
                <c:pt idx="2">
                  <c:v>234.1</c:v>
                </c:pt>
                <c:pt idx="3">
                  <c:v>232.3</c:v>
                </c:pt>
                <c:pt idx="4">
                  <c:v>251.9</c:v>
                </c:pt>
                <c:pt idx="5">
                  <c:v>295.9</c:v>
                </c:pt>
                <c:pt idx="6">
                  <c:v>194.8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BrightTV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Insights &amp; Growth 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who watches, when, and what.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BrightTV Case Study  |  Jan–Apr 2016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the four CEO questions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• Viewership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6537960"/>
            <a:ext cx="5330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Viewership + User Profiles (Jan–Apr 2016, SAST)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115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 &amp; Method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4447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CEO brief, data sources, SAST conversion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1892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&amp; Usage Trends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2219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watches BrightTV and how much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2670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Influences Consumption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29992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Daypart, day-of-week, channel mix, demographics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447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Low-Consumption Days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7764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softest — what to programme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4224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Initiatives to Grow the User Base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5537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CVM moves for the CEO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objective: grow BrightTV’s subscription base this financial year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• Viewership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6537960"/>
            <a:ext cx="5330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Viewership + User Profiles (Jan–Apr 2016, SAST)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brief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CEO has tasked the CVM team with growing the subscription base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Asked for data-driven insights to guide acquisition &amp; retention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datasets supplied: User Profiles + Viewership transactions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record per session; timestamps in UTC (converted to SAST)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questions we will answer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169164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are the user &amp; usage trends on BrightTV?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factors influence consumption?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content should we add on low-consumption days?
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initiatives will grow the user base?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 tables, joined and cleaned via SQL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• Viewership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6537960"/>
            <a:ext cx="5330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Viewership + User Profiles (Jan–Apr 2016, SAST)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66928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37160" cy="2377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Viewership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raw rows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Channel, RecordDate, Duration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566928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097280"/>
            <a:ext cx="137160" cy="2377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Profiles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164592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5,375 users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Race, Province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566928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137160" cy="2377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94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Reconciled UserID/userid_1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Normalised "Kwazulu Natal" → KwaZulu-Natal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Removed Break-in-transmission &amp; 0-duration rows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566928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657600"/>
            <a:ext cx="137160" cy="2377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94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42062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Converted UTC → SAST (UTC+2)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Bucketed Hour-of-Day &amp; Age groups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Grouped by Month × Channel × Demo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— User &amp; Usage Trends: Headline KPIs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 9,083 valid views from 4,107 unique viewers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• Viewership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6537960"/>
            <a:ext cx="5330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Viewership + User Profiles (Jan–Apr 2016, SAST)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4320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9,083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breaks &amp; 0-duration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74320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4173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4,107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viewers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to a known profile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74320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4173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1,522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21792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watched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63 days of continuous viewing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1280160"/>
            <a:ext cx="274320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14173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909828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minutes / view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3544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session length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captured ~1,522 hours of viewing in Q1 2016 — but each viewer watches just ~10 min per session, signalling shallow engagement and big upside in session length.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— Audience Profile: Age &amp; Gender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that influence consumption — Youth &amp; males dominate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• Viewership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6537960"/>
            <a:ext cx="5330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Viewership + User Profiles (Jan–Apr 2016, SAST)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 by Age Group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508760"/>
          <a:ext cx="56692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 by Gender</a:t>
            </a:r>
            <a:endParaRPr lang="en-US" sz="16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400800" y="1508760"/>
          <a:ext cx="5303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— Audience Profile: Race &amp; Province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viewers and Gauteng lead by a wide margin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• Viewership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6537960"/>
            <a:ext cx="5330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Viewership + User Profiles (Jan–Apr 2016, SAST)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 by Race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508760"/>
          <a:ext cx="56692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Views by Province</a:t>
            </a:r>
            <a:endParaRPr lang="en-US" sz="16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400800" y="1508760"/>
          <a:ext cx="5303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— When They Watch (Daypart)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(12:00–17:00 SAST) is the peak viewing window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• Viewership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6537960"/>
            <a:ext cx="5330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Viewership + User Profiles (Jan–Apr 2016, SAST)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68580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1280160"/>
            <a:ext cx="4114800" cy="4937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0" y="1280160"/>
            <a:ext cx="137160" cy="4937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Daypart insight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63840" y="1828800"/>
            <a:ext cx="38404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Afternoon = 38% of all views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Evening close behind at 33%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 Night under 6% — softest window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premium content &amp; ad inventory in the 12:00–22:00 corridor; use Late Night for catalogue / repeats.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— Top Channels by Hours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drives the most hours; ICC Cricket leads on time-spent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• Viewership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6537960"/>
            <a:ext cx="5330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Viewership + User Profiles (Jan–Apr 2016, SAST)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73152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138160" y="1280160"/>
            <a:ext cx="3657600" cy="4937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8138160" y="1280160"/>
            <a:ext cx="137160" cy="4937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8321040" y="1417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21040" y="1828800"/>
            <a:ext cx="33832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Sport (ICC + SuperSport) = ~54% of hours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Music (Channel O, Trace) strong on Youth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Kids (Cartoon, Boomerang) high count, low avg session
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sport rights renewals; build a "Music + Youth" bundle; lengthen kids sessions with binge blocks.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— Day-of-Week Consumption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the lowest-consumption day — a clear programming gap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• Viewership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6537960"/>
            <a:ext cx="5330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Viewership + User Profiles (Jan–Apr 2016, SAST)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68580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1280160"/>
            <a:ext cx="4114800" cy="4937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0" y="1280160"/>
            <a:ext cx="137160" cy="4937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Day-of-week insight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63840" y="1828800"/>
            <a:ext cx="38404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Saturday peaks at 296 hrs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Monday drops to just 115 hrs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Monday = 61% below the Saturday peak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the clearest opportunity to lift weekly consumption.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— Content to Lift Monday Consumption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programming aimed at the audiences already on the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• Viewership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6537960"/>
            <a:ext cx="5330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Viewership + User Profiles (Jan–Apr 2016, SAST)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0972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"Monday Night Sport"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48132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football, rugby or PSL highlights — leverages our #1 hours category and gives sport fans a reason to log in mid-week.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0574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Mondays on Channel O / Trace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44144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New-music-Monday playlists &amp; artist takeovers targeting the Youth segment (41% of views).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TV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Premiere Night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40156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a flagship local drama or reality premiere on Monday 19:30 to build appointment viewing for female &amp; adult segments.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77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977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Movie Monday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3616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family film 18:00–20:00 to convert Kids/Teen profiles into shared-household sessions.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937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37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49377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"Catch-up Monday" CVM promo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3218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preview of a premium channel every Monday — drives sampling that supports CVM upsell later in the week.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— Initiatives to Grow the User Base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CVM moves the CEO can action this year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• Viewership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6537960"/>
            <a:ext cx="5330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Viewership + User Profiles (Jan–Apr 2016, SAST)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down on the Afternoon–Evening corridor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4813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premieres &amp; top sport between 12:00–22:00 SAST; charge premium CPMs.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057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Youth + Music package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4414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drives 41% of views; bundle Channel O / Trace into a low-cost mobile-first tier.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017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the Gauteng &amp; Western Cape metros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4015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views come from these two provinces — geo-targeted campaigns will compound.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Re-engage female viewers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36168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are only 10% of views vs 50% of population — invest in lifestyle / drama programming.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9377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engagement-depth problem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5321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10 min/session is shallow; introduce auto-play next episode + personalised rails.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 •  Viewership Insights  •  Q1 2016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Insights</dc:title>
  <dc:subject>PptxGenJS Presentation</dc:subject>
  <dc:creator>PptxGenJS</dc:creator>
  <cp:lastModifiedBy>PptxGenJS</cp:lastModifiedBy>
  <cp:revision>1</cp:revision>
  <dcterms:created xsi:type="dcterms:W3CDTF">2026-04-19T14:24:36Z</dcterms:created>
  <dcterms:modified xsi:type="dcterms:W3CDTF">2026-04-19T14:24:36Z</dcterms:modified>
</cp:coreProperties>
</file>